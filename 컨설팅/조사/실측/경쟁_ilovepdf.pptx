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39084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>
                <a:latin typeface="Malgun Gothic"/>
                <a:cs typeface="Malgun Gothic"/>
              </a:rPr>
              <a:t>가상</a:t>
            </a:r>
            <a:r>
              <a:rPr dirty="0" sz="2000" spc="-140">
                <a:latin typeface="Malgun Gothic"/>
                <a:cs typeface="Malgun Gothic"/>
              </a:rPr>
              <a:t> </a:t>
            </a:r>
            <a:r>
              <a:rPr dirty="0" sz="2000" spc="-120">
                <a:latin typeface="Malgun Gothic"/>
                <a:cs typeface="Malgun Gothic"/>
              </a:rPr>
              <a:t>회사</a:t>
            </a:r>
            <a:r>
              <a:rPr dirty="0" sz="2000" spc="-140">
                <a:latin typeface="Malgun Gothic"/>
                <a:cs typeface="Malgun Gothic"/>
              </a:rPr>
              <a:t> </a:t>
            </a:r>
            <a:r>
              <a:rPr dirty="0" sz="2000" spc="-120">
                <a:latin typeface="Malgun Gothic"/>
                <a:cs typeface="Malgun Gothic"/>
              </a:rPr>
              <a:t>분기</a:t>
            </a:r>
            <a:r>
              <a:rPr dirty="0" sz="2000" spc="-135">
                <a:latin typeface="Malgun Gothic"/>
                <a:cs typeface="Malgun Gothic"/>
              </a:rPr>
              <a:t> </a:t>
            </a:r>
            <a:r>
              <a:rPr dirty="0" sz="2000" spc="-120">
                <a:latin typeface="Malgun Gothic"/>
                <a:cs typeface="Malgun Gothic"/>
              </a:rPr>
              <a:t>보고서</a:t>
            </a:r>
            <a:r>
              <a:rPr dirty="0" sz="2000" spc="-140">
                <a:latin typeface="Malgun Gothic"/>
                <a:cs typeface="Malgun Gothic"/>
              </a:rPr>
              <a:t> </a:t>
            </a:r>
            <a:r>
              <a:rPr dirty="0" sz="2000" spc="-75">
                <a:latin typeface="Malgun Gothic"/>
                <a:cs typeface="Malgun Gothic"/>
              </a:rPr>
              <a:t>(시험용</a:t>
            </a:r>
            <a:r>
              <a:rPr dirty="0" sz="2000" spc="-13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문서)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463039"/>
            <a:ext cx="5377815" cy="158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dirty="0" sz="1100" spc="-55">
                <a:latin typeface="Malgun Gothic"/>
                <a:cs typeface="Malgun Gothic"/>
              </a:rPr>
              <a:t>이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문서는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변환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품질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시험을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위해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2026-10-02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디시전메이커가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직접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만든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가상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문서입니다. </a:t>
            </a:r>
            <a:r>
              <a:rPr dirty="0" sz="1100" spc="-60">
                <a:latin typeface="Malgun Gothic"/>
                <a:cs typeface="Malgun Gothic"/>
              </a:rPr>
              <a:t>등장하는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회사·숫자·사람은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모두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지어낸 </a:t>
            </a:r>
            <a:r>
              <a:rPr dirty="0" sz="1100" spc="-45">
                <a:latin typeface="Malgun Gothic"/>
                <a:cs typeface="Malgun Gothic"/>
              </a:rPr>
              <a:t>것입니다.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저작권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문제가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없습니다.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400" spc="90">
                <a:latin typeface="Malgun Gothic"/>
                <a:cs typeface="Malgun Gothic"/>
              </a:rPr>
              <a:t>1.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25">
                <a:latin typeface="Malgun Gothic"/>
                <a:cs typeface="Malgun Gothic"/>
              </a:rPr>
              <a:t>요약</a:t>
            </a:r>
            <a:endParaRPr sz="1400">
              <a:latin typeface="Malgun Gothic"/>
              <a:cs typeface="Malgun Gothic"/>
            </a:endParaRPr>
          </a:p>
          <a:p>
            <a:pPr algn="just" marL="12700" marR="354330">
              <a:lnSpc>
                <a:spcPct val="128800"/>
              </a:lnSpc>
              <a:spcBef>
                <a:spcPts val="740"/>
              </a:spcBef>
            </a:pPr>
            <a:r>
              <a:rPr dirty="0" sz="1100" spc="-55">
                <a:latin typeface="Malgun Gothic"/>
                <a:cs typeface="Malgun Gothic"/>
              </a:rPr>
              <a:t>가상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주식회사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한빛의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3분기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매출은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지난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분기보다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12%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30">
                <a:latin typeface="Malgun Gothic"/>
                <a:cs typeface="Malgun Gothic"/>
              </a:rPr>
              <a:t>늘었고,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신규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고객은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340곳이</a:t>
            </a:r>
            <a:r>
              <a:rPr dirty="0" sz="1100" spc="-2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더해졌습니다.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다만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고객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유지율은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2%포인트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낮아져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보완이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필요합니다.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보고서는</a:t>
            </a:r>
            <a:r>
              <a:rPr dirty="0" sz="1100" spc="-20">
                <a:latin typeface="Malgun Gothic"/>
                <a:cs typeface="Malgun Gothic"/>
              </a:rPr>
              <a:t> </a:t>
            </a:r>
            <a:r>
              <a:rPr dirty="0" sz="1100" spc="-30">
                <a:latin typeface="Malgun Gothic"/>
                <a:cs typeface="Malgun Gothic"/>
              </a:rPr>
              <a:t>매출·비용·고객·계획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네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부분으로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구성됩니다.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900" y="3175000"/>
            <a:ext cx="79375" cy="116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500" y="3175000"/>
            <a:ext cx="1737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매출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12%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증가(전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대비)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500" y="3492500"/>
            <a:ext cx="9912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신규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고객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340곳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6500" y="3810000"/>
            <a:ext cx="10312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유지율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2%p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하락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6500" y="4127499"/>
            <a:ext cx="19037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algun Gothic"/>
                <a:cs typeface="Malgun Gothic"/>
              </a:rPr>
              <a:t>4분기</a:t>
            </a:r>
            <a:r>
              <a:rPr dirty="0" sz="1100" spc="-6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계획: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지역 확장과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30">
                <a:latin typeface="Malgun Gothic"/>
                <a:cs typeface="Malgun Gothic"/>
              </a:rPr>
              <a:t>자동화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3688079" cy="548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>
                <a:latin typeface="Malgun Gothic"/>
                <a:cs typeface="Malgun Gothic"/>
              </a:rPr>
              <a:t>2.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85">
                <a:latin typeface="Malgun Gothic"/>
                <a:cs typeface="Malgun Gothic"/>
              </a:rPr>
              <a:t>매출</a:t>
            </a:r>
            <a:r>
              <a:rPr dirty="0" sz="1400" spc="-100">
                <a:latin typeface="Malgun Gothic"/>
                <a:cs typeface="Malgun Gothic"/>
              </a:rPr>
              <a:t> </a:t>
            </a:r>
            <a:r>
              <a:rPr dirty="0" sz="1400" spc="-35">
                <a:latin typeface="Malgun Gothic"/>
                <a:cs typeface="Malgun Gothic"/>
              </a:rPr>
              <a:t>현황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100" spc="-60">
                <a:latin typeface="Malgun Gothic"/>
                <a:cs typeface="Malgun Gothic"/>
              </a:rPr>
              <a:t>아래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표는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가상의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사업부별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매출입니다.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단위는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백만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원입니다.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38473" y="1660524"/>
          <a:ext cx="2159635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300"/>
                <a:gridCol w="467994"/>
                <a:gridCol w="467994"/>
                <a:gridCol w="39116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사업부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2분기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3분기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증감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0">
                          <a:latin typeface="Malgun Gothic"/>
                          <a:cs typeface="Malgun Gothic"/>
                        </a:rPr>
                        <a:t>문서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도구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120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134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+14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시뮬레이션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80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91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+11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교육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45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42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1000" spc="-50">
                          <a:latin typeface="Malgun Gothic"/>
                          <a:cs typeface="Malgun Gothic"/>
                        </a:rPr>
                        <a:t>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합계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245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267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+22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000" y="3213099"/>
            <a:ext cx="4749800" cy="22182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5486399"/>
            <a:ext cx="1383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5">
                <a:latin typeface="Malgun Gothic"/>
                <a:cs typeface="Malgun Gothic"/>
              </a:rPr>
              <a:t>그림</a:t>
            </a:r>
            <a:r>
              <a:rPr dirty="0" sz="900" spc="-60">
                <a:latin typeface="Malgun Gothic"/>
                <a:cs typeface="Malgun Gothic"/>
              </a:rPr>
              <a:t> </a:t>
            </a:r>
            <a:r>
              <a:rPr dirty="0" sz="900" spc="55">
                <a:latin typeface="Malgun Gothic"/>
                <a:cs typeface="Malgun Gothic"/>
              </a:rPr>
              <a:t>1.</a:t>
            </a:r>
            <a:r>
              <a:rPr dirty="0" sz="900" spc="-55">
                <a:latin typeface="Malgun Gothic"/>
                <a:cs typeface="Malgun Gothic"/>
              </a:rPr>
              <a:t> </a:t>
            </a:r>
            <a:r>
              <a:rPr dirty="0" sz="900" spc="-60">
                <a:latin typeface="Malgun Gothic"/>
                <a:cs typeface="Malgun Gothic"/>
              </a:rPr>
              <a:t>사업부별</a:t>
            </a:r>
            <a:r>
              <a:rPr dirty="0" sz="900" spc="-55">
                <a:latin typeface="Malgun Gothic"/>
                <a:cs typeface="Malgun Gothic"/>
              </a:rPr>
              <a:t> </a:t>
            </a:r>
            <a:r>
              <a:rPr dirty="0" sz="900" spc="-10">
                <a:latin typeface="Malgun Gothic"/>
                <a:cs typeface="Malgun Gothic"/>
              </a:rPr>
              <a:t>매출(가상)</a:t>
            </a:r>
            <a:endParaRPr sz="900">
              <a:latin typeface="Malgun Gothic"/>
              <a:cs typeface="Malgun Gothic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5468620" cy="2479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>
                <a:latin typeface="Malgun Gothic"/>
                <a:cs typeface="Malgun Gothic"/>
              </a:rPr>
              <a:t>3.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85">
                <a:latin typeface="Malgun Gothic"/>
                <a:cs typeface="Malgun Gothic"/>
              </a:rPr>
              <a:t>비용</a:t>
            </a:r>
            <a:r>
              <a:rPr dirty="0" sz="1400" spc="-100">
                <a:latin typeface="Malgun Gothic"/>
                <a:cs typeface="Malgun Gothic"/>
              </a:rPr>
              <a:t> </a:t>
            </a:r>
            <a:r>
              <a:rPr dirty="0" sz="1400" spc="-35">
                <a:latin typeface="Malgun Gothic"/>
                <a:cs typeface="Malgun Gothic"/>
              </a:rPr>
              <a:t>구조</a:t>
            </a:r>
            <a:endParaRPr sz="14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740"/>
              </a:spcBef>
            </a:pPr>
            <a:r>
              <a:rPr dirty="0" sz="1100" spc="-60">
                <a:latin typeface="Malgun Gothic"/>
                <a:cs typeface="Malgun Gothic"/>
              </a:rPr>
              <a:t>비용은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인건비·서버비·마케팅비로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나뉩니다.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3분기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서버비는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사용량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증가로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8%</a:t>
            </a:r>
            <a:r>
              <a:rPr dirty="0" sz="1100" spc="-6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늘었고, </a:t>
            </a:r>
            <a:r>
              <a:rPr dirty="0" sz="1100" spc="-60">
                <a:latin typeface="Malgun Gothic"/>
                <a:cs typeface="Malgun Gothic"/>
              </a:rPr>
              <a:t>마케팅비는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집행을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줄여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15%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줄었습니다.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인건비는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변동이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없습니다.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괄호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안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숫자는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분기 </a:t>
            </a:r>
            <a:r>
              <a:rPr dirty="0" sz="1100" spc="-60">
                <a:latin typeface="Malgun Gothic"/>
                <a:cs typeface="Malgun Gothic"/>
              </a:rPr>
              <a:t>대비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증감입니다.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(문단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1)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800"/>
              </a:spcBef>
            </a:pPr>
            <a:r>
              <a:rPr dirty="0" sz="1100" spc="-60">
                <a:latin typeface="Malgun Gothic"/>
                <a:cs typeface="Malgun Gothic"/>
              </a:rPr>
              <a:t>비용은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인건비·서버비·마케팅비로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나뉩니다.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3분기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서버비는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사용량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증가로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8%</a:t>
            </a:r>
            <a:r>
              <a:rPr dirty="0" sz="1100" spc="-6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늘었고, </a:t>
            </a:r>
            <a:r>
              <a:rPr dirty="0" sz="1100" spc="-60">
                <a:latin typeface="Malgun Gothic"/>
                <a:cs typeface="Malgun Gothic"/>
              </a:rPr>
              <a:t>마케팅비는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집행을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줄여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15%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줄었습니다.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인건비는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변동이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없습니다.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괄호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안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숫자는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분기 </a:t>
            </a:r>
            <a:r>
              <a:rPr dirty="0" sz="1100" spc="-60">
                <a:latin typeface="Malgun Gothic"/>
                <a:cs typeface="Malgun Gothic"/>
              </a:rPr>
              <a:t>대비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증감입니다.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(문단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2)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800"/>
              </a:spcBef>
            </a:pPr>
            <a:r>
              <a:rPr dirty="0" sz="1100" spc="-60">
                <a:latin typeface="Malgun Gothic"/>
                <a:cs typeface="Malgun Gothic"/>
              </a:rPr>
              <a:t>비용은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인건비·서버비·마케팅비로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나뉩니다.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3분기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서버비는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사용량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증가로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8%</a:t>
            </a:r>
            <a:r>
              <a:rPr dirty="0" sz="1100" spc="-6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늘었고, </a:t>
            </a:r>
            <a:r>
              <a:rPr dirty="0" sz="1100" spc="-60">
                <a:latin typeface="Malgun Gothic"/>
                <a:cs typeface="Malgun Gothic"/>
              </a:rPr>
              <a:t>마케팅비는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집행을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줄여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15%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줄었습니다.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인건비는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변동이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없습니다.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괄호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안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숫자는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분기 </a:t>
            </a:r>
            <a:r>
              <a:rPr dirty="0" sz="1100" spc="-60">
                <a:latin typeface="Malgun Gothic"/>
                <a:cs typeface="Malgun Gothic"/>
              </a:rPr>
              <a:t>대비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증감입니다.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(문단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3)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33544" y="3590924"/>
          <a:ext cx="1769110" cy="1142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391160"/>
                <a:gridCol w="66548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항목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금액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비고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인건비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98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0">
                          <a:latin typeface="Malgun Gothic"/>
                          <a:cs typeface="Malgun Gothic"/>
                        </a:rPr>
                        <a:t>변동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없음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서버비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27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55">
                          <a:latin typeface="Malgun Gothic"/>
                          <a:cs typeface="Malgun Gothic"/>
                        </a:rPr>
                        <a:t>+8%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Malgun Gothic"/>
                          <a:cs typeface="Malgun Gothic"/>
                        </a:rPr>
                        <a:t>마케팅비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30">
                          <a:latin typeface="Malgun Gothic"/>
                          <a:cs typeface="Malgun Gothic"/>
                        </a:rPr>
                        <a:t>17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5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1000" spc="55">
                          <a:latin typeface="Malgun Gothic"/>
                          <a:cs typeface="Malgun Gothic"/>
                        </a:rPr>
                        <a:t>15%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기타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5">
                          <a:latin typeface="Malgun Gothic"/>
                          <a:cs typeface="Malgun Gothic"/>
                        </a:rPr>
                        <a:t>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9556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>
                <a:latin typeface="Malgun Gothic"/>
                <a:cs typeface="Malgun Gothic"/>
              </a:rPr>
              <a:t>4.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85">
                <a:latin typeface="Malgun Gothic"/>
                <a:cs typeface="Malgun Gothic"/>
              </a:rPr>
              <a:t>고객</a:t>
            </a:r>
            <a:r>
              <a:rPr dirty="0" sz="1400" spc="-100">
                <a:latin typeface="Malgun Gothic"/>
                <a:cs typeface="Malgun Gothic"/>
              </a:rPr>
              <a:t> </a:t>
            </a:r>
            <a:r>
              <a:rPr dirty="0" sz="1400" spc="-55">
                <a:latin typeface="Malgun Gothic"/>
                <a:cs typeface="Malgun Gothic"/>
              </a:rPr>
              <a:t>분석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000" y="1498599"/>
            <a:ext cx="2293620" cy="19888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7900" y="3596640"/>
            <a:ext cx="5323205" cy="8128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55">
                <a:latin typeface="Malgun Gothic"/>
                <a:cs typeface="Malgun Gothic"/>
              </a:rPr>
              <a:t>그림</a:t>
            </a:r>
            <a:r>
              <a:rPr dirty="0" sz="900" spc="-65">
                <a:latin typeface="Malgun Gothic"/>
                <a:cs typeface="Malgun Gothic"/>
              </a:rPr>
              <a:t> </a:t>
            </a:r>
            <a:r>
              <a:rPr dirty="0" sz="900" spc="55">
                <a:latin typeface="Malgun Gothic"/>
                <a:cs typeface="Malgun Gothic"/>
              </a:rPr>
              <a:t>2.</a:t>
            </a:r>
            <a:r>
              <a:rPr dirty="0" sz="900" spc="-60">
                <a:latin typeface="Malgun Gothic"/>
                <a:cs typeface="Malgun Gothic"/>
              </a:rPr>
              <a:t> </a:t>
            </a:r>
            <a:r>
              <a:rPr dirty="0" sz="900" spc="-55">
                <a:latin typeface="Malgun Gothic"/>
                <a:cs typeface="Malgun Gothic"/>
              </a:rPr>
              <a:t>고객</a:t>
            </a:r>
            <a:r>
              <a:rPr dirty="0" sz="900" spc="-60">
                <a:latin typeface="Malgun Gothic"/>
                <a:cs typeface="Malgun Gothic"/>
              </a:rPr>
              <a:t> </a:t>
            </a:r>
            <a:r>
              <a:rPr dirty="0" sz="900" spc="-55">
                <a:latin typeface="Malgun Gothic"/>
                <a:cs typeface="Malgun Gothic"/>
              </a:rPr>
              <a:t>구성</a:t>
            </a:r>
            <a:r>
              <a:rPr dirty="0" sz="900" spc="-60">
                <a:latin typeface="Malgun Gothic"/>
                <a:cs typeface="Malgun Gothic"/>
              </a:rPr>
              <a:t> </a:t>
            </a:r>
            <a:r>
              <a:rPr dirty="0" sz="900" spc="-25">
                <a:latin typeface="Malgun Gothic"/>
                <a:cs typeface="Malgun Gothic"/>
              </a:rPr>
              <a:t>(가상</a:t>
            </a:r>
            <a:r>
              <a:rPr dirty="0" sz="900" spc="-60">
                <a:latin typeface="Malgun Gothic"/>
                <a:cs typeface="Malgun Gothic"/>
              </a:rPr>
              <a:t> </a:t>
            </a:r>
            <a:r>
              <a:rPr dirty="0" sz="900" spc="-25">
                <a:latin typeface="Malgun Gothic"/>
                <a:cs typeface="Malgun Gothic"/>
              </a:rPr>
              <a:t>도형)</a:t>
            </a:r>
            <a:endParaRPr sz="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100" spc="-60">
                <a:latin typeface="Malgun Gothic"/>
                <a:cs typeface="Malgun Gothic"/>
              </a:rPr>
              <a:t>고객의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62%는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중소기업,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28%는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개인,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10%는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공공기관입니다.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공공기관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고객은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문서</a:t>
            </a:r>
            <a:r>
              <a:rPr dirty="0" sz="1100" spc="-6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변환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</a:pPr>
            <a:r>
              <a:rPr dirty="0" sz="1100" spc="-60">
                <a:latin typeface="Malgun Gothic"/>
                <a:cs typeface="Malgun Gothic"/>
              </a:rPr>
              <a:t>기능을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가장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많이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쓰며,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개인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고객은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무료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도구에서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유입됐습니다.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영문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표기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70">
                <a:latin typeface="Malgun Gothic"/>
                <a:cs typeface="Malgun Gothic"/>
              </a:rPr>
              <a:t>예: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Quarterly </a:t>
            </a:r>
            <a:r>
              <a:rPr dirty="0" sz="1100">
                <a:latin typeface="Malgun Gothic"/>
                <a:cs typeface="Malgun Gothic"/>
              </a:rPr>
              <a:t>Report,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Customer</a:t>
            </a:r>
            <a:r>
              <a:rPr dirty="0" sz="1100" spc="-50">
                <a:latin typeface="Malgun Gothic"/>
                <a:cs typeface="Malgun Gothic"/>
              </a:rPr>
              <a:t> </a:t>
            </a:r>
            <a:r>
              <a:rPr dirty="0" sz="1100" spc="-30">
                <a:latin typeface="Malgun Gothic"/>
                <a:cs typeface="Malgun Gothic"/>
              </a:rPr>
              <a:t>Retention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Rate</a:t>
            </a:r>
            <a:r>
              <a:rPr dirty="0" sz="1100" spc="-50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87.5%.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10629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>
                <a:latin typeface="Malgun Gothic"/>
                <a:cs typeface="Malgun Gothic"/>
              </a:rPr>
              <a:t>5.</a:t>
            </a:r>
            <a:r>
              <a:rPr dirty="0" sz="1400" spc="-100">
                <a:latin typeface="Malgun Gothic"/>
                <a:cs typeface="Malgun Gothic"/>
              </a:rPr>
              <a:t> </a:t>
            </a:r>
            <a:r>
              <a:rPr dirty="0" sz="1400" spc="-40">
                <a:latin typeface="Malgun Gothic"/>
                <a:cs typeface="Malgun Gothic"/>
              </a:rPr>
              <a:t>4분기</a:t>
            </a:r>
            <a:r>
              <a:rPr dirty="0" sz="1400" spc="-95">
                <a:latin typeface="Malgun Gothic"/>
                <a:cs typeface="Malgun Gothic"/>
              </a:rPr>
              <a:t> </a:t>
            </a:r>
            <a:r>
              <a:rPr dirty="0" sz="1400" spc="-50">
                <a:latin typeface="Malgun Gothic"/>
                <a:cs typeface="Malgun Gothic"/>
              </a:rPr>
              <a:t>계획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333500"/>
            <a:ext cx="110489" cy="116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500" y="1333500"/>
            <a:ext cx="193293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지역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확장: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대전·부산</a:t>
            </a:r>
            <a:r>
              <a:rPr dirty="0" sz="1100" spc="-4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지사(가상)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500" y="1651000"/>
            <a:ext cx="22999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algun Gothic"/>
                <a:cs typeface="Malgun Gothic"/>
              </a:rPr>
              <a:t>자동화: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변환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처리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30%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단축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목표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500" y="1968500"/>
            <a:ext cx="16960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고객 </a:t>
            </a:r>
            <a:r>
              <a:rPr dirty="0" sz="1100">
                <a:latin typeface="Malgun Gothic"/>
                <a:cs typeface="Malgun Gothic"/>
              </a:rPr>
              <a:t>유지: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분기별 안내</a:t>
            </a:r>
            <a:r>
              <a:rPr dirty="0" sz="1100" spc="-55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메일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6500" y="2286000"/>
            <a:ext cx="169798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algun Gothic"/>
                <a:cs typeface="Malgun Gothic"/>
              </a:rPr>
              <a:t>위험:</a:t>
            </a:r>
            <a:r>
              <a:rPr dirty="0" sz="1100" spc="-45">
                <a:latin typeface="Malgun Gothic"/>
                <a:cs typeface="Malgun Gothic"/>
              </a:rPr>
              <a:t> 환율·경쟁사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가격</a:t>
            </a:r>
            <a:r>
              <a:rPr dirty="0" sz="1100" spc="-40">
                <a:latin typeface="Malgun Gothic"/>
                <a:cs typeface="Malgun Gothic"/>
              </a:rPr>
              <a:t> </a:t>
            </a:r>
            <a:r>
              <a:rPr dirty="0" sz="1100" spc="-25">
                <a:latin typeface="Malgun Gothic"/>
                <a:cs typeface="Malgun Gothic"/>
              </a:rPr>
              <a:t>인하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900" y="2555239"/>
            <a:ext cx="5603875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dirty="0" sz="1100" spc="-60">
                <a:latin typeface="Malgun Gothic"/>
                <a:cs typeface="Malgun Gothic"/>
              </a:rPr>
              <a:t>계획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세부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1.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담당자는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시작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안에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실행안을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내고,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매달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진행률을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보고합니다.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목표를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못 </a:t>
            </a:r>
            <a:r>
              <a:rPr dirty="0" sz="1100" spc="-60">
                <a:latin typeface="Malgun Gothic"/>
                <a:cs typeface="Malgun Gothic"/>
              </a:rPr>
              <a:t>채우면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원인을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적고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다음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달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계획을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고칩니다.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800"/>
              </a:spcBef>
            </a:pPr>
            <a:r>
              <a:rPr dirty="0" sz="1100" spc="-60">
                <a:latin typeface="Malgun Gothic"/>
                <a:cs typeface="Malgun Gothic"/>
              </a:rPr>
              <a:t>계획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세부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2.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담당자는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시작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안에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실행안을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내고,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매달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진행률을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보고합니다.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목표를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못 </a:t>
            </a:r>
            <a:r>
              <a:rPr dirty="0" sz="1100" spc="-60">
                <a:latin typeface="Malgun Gothic"/>
                <a:cs typeface="Malgun Gothic"/>
              </a:rPr>
              <a:t>채우면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원인을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적고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다음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달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계획을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고칩니다.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800"/>
              </a:spcBef>
            </a:pPr>
            <a:r>
              <a:rPr dirty="0" sz="1100" spc="-60">
                <a:latin typeface="Malgun Gothic"/>
                <a:cs typeface="Malgun Gothic"/>
              </a:rPr>
              <a:t>계획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세부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3.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담당자는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시작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안에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실행안을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내고,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매달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진행률을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보고합니다.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목표를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못 </a:t>
            </a:r>
            <a:r>
              <a:rPr dirty="0" sz="1100" spc="-60">
                <a:latin typeface="Malgun Gothic"/>
                <a:cs typeface="Malgun Gothic"/>
              </a:rPr>
              <a:t>채우면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원인을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적고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다음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달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계획을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고칩니다.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28800"/>
              </a:lnSpc>
              <a:spcBef>
                <a:spcPts val="800"/>
              </a:spcBef>
            </a:pPr>
            <a:r>
              <a:rPr dirty="0" sz="1100" spc="-60">
                <a:latin typeface="Malgun Gothic"/>
                <a:cs typeface="Malgun Gothic"/>
              </a:rPr>
              <a:t>계획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세부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>
                <a:latin typeface="Malgun Gothic"/>
                <a:cs typeface="Malgun Gothic"/>
              </a:rPr>
              <a:t>4.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담당자는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분기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시작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40">
                <a:latin typeface="Malgun Gothic"/>
                <a:cs typeface="Malgun Gothic"/>
              </a:rPr>
              <a:t>2주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안에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실행안을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20">
                <a:latin typeface="Malgun Gothic"/>
                <a:cs typeface="Malgun Gothic"/>
              </a:rPr>
              <a:t>내고,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매달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진행률을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45">
                <a:latin typeface="Malgun Gothic"/>
                <a:cs typeface="Malgun Gothic"/>
              </a:rPr>
              <a:t>보고합니다.</a:t>
            </a:r>
            <a:r>
              <a:rPr dirty="0" sz="1100" spc="-7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목표를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50">
                <a:latin typeface="Malgun Gothic"/>
                <a:cs typeface="Malgun Gothic"/>
              </a:rPr>
              <a:t>못 </a:t>
            </a:r>
            <a:r>
              <a:rPr dirty="0" sz="1100" spc="-60">
                <a:latin typeface="Malgun Gothic"/>
                <a:cs typeface="Malgun Gothic"/>
              </a:rPr>
              <a:t>채우면</a:t>
            </a:r>
            <a:r>
              <a:rPr dirty="0" sz="1100" spc="-9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원인을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적고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다음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달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계획을</a:t>
            </a:r>
            <a:r>
              <a:rPr dirty="0" sz="1100" spc="-75">
                <a:latin typeface="Malgun Gothic"/>
                <a:cs typeface="Malgun Gothic"/>
              </a:rPr>
              <a:t> </a:t>
            </a:r>
            <a:r>
              <a:rPr dirty="0" sz="1100" spc="-10">
                <a:latin typeface="Malgun Gothic"/>
                <a:cs typeface="Malgun Gothic"/>
              </a:rPr>
              <a:t>고칩니다.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11588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>
                <a:latin typeface="Malgun Gothic"/>
                <a:cs typeface="Malgun Gothic"/>
              </a:rPr>
              <a:t>6.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85">
                <a:latin typeface="Malgun Gothic"/>
                <a:cs typeface="Malgun Gothic"/>
              </a:rPr>
              <a:t>부록</a:t>
            </a:r>
            <a:r>
              <a:rPr dirty="0" sz="1400" spc="-105">
                <a:latin typeface="Malgun Gothic"/>
                <a:cs typeface="Malgun Gothic"/>
              </a:rPr>
              <a:t> </a:t>
            </a:r>
            <a:r>
              <a:rPr dirty="0" sz="1400" spc="-229">
                <a:latin typeface="Malgun Gothic"/>
                <a:cs typeface="Malgun Gothic"/>
              </a:rPr>
              <a:t>—</a:t>
            </a:r>
            <a:r>
              <a:rPr dirty="0" sz="1400" spc="-100">
                <a:latin typeface="Malgun Gothic"/>
                <a:cs typeface="Malgun Gothic"/>
              </a:rPr>
              <a:t> </a:t>
            </a:r>
            <a:r>
              <a:rPr dirty="0" sz="1400" spc="-50">
                <a:latin typeface="Malgun Gothic"/>
                <a:cs typeface="Malgun Gothic"/>
              </a:rPr>
              <a:t>용어</a:t>
            </a:r>
            <a:endParaRPr sz="14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9325" y="1343024"/>
          <a:ext cx="579755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444500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용어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50">
                          <a:latin typeface="Malgun Gothic"/>
                          <a:cs typeface="Malgun Gothic"/>
                        </a:rPr>
                        <a:t>뜻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2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유지율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0"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분기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고객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중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이번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5">
                          <a:latin typeface="Malgun Gothic"/>
                          <a:cs typeface="Malgun Gothic"/>
                        </a:rPr>
                        <a:t>분기에도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남은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비율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사업부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5">
                          <a:latin typeface="Malgun Gothic"/>
                          <a:cs typeface="Malgun Gothic"/>
                        </a:rPr>
                        <a:t>매출을 나누어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보는</a:t>
                      </a:r>
                      <a:r>
                        <a:rPr dirty="0" sz="1000" spc="-6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단위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Malgun Gothic"/>
                          <a:cs typeface="Malgun Gothic"/>
                        </a:rPr>
                        <a:t>자동화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0">
                          <a:latin typeface="Malgun Gothic"/>
                          <a:cs typeface="Malgun Gothic"/>
                        </a:rPr>
                        <a:t>사람</a:t>
                      </a:r>
                      <a:r>
                        <a:rPr dirty="0" sz="1000" spc="-7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손을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5">
                          <a:latin typeface="Malgun Gothic"/>
                          <a:cs typeface="Malgun Gothic"/>
                        </a:rPr>
                        <a:t>줄이는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60">
                          <a:latin typeface="Malgun Gothic"/>
                          <a:cs typeface="Malgun Gothic"/>
                        </a:rPr>
                        <a:t>처리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방식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77900" y="2247900"/>
            <a:ext cx="22840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algun Gothic"/>
                <a:cs typeface="Malgun Gothic"/>
              </a:rPr>
              <a:t>끝.</a:t>
            </a:r>
            <a:r>
              <a:rPr dirty="0" sz="1100" spc="-85">
                <a:latin typeface="Malgun Gothic"/>
                <a:cs typeface="Malgun Gothic"/>
              </a:rPr>
              <a:t> </a:t>
            </a:r>
            <a:r>
              <a:rPr dirty="0" sz="1100" spc="-55">
                <a:latin typeface="Malgun Gothic"/>
                <a:cs typeface="Malgun Gothic"/>
              </a:rPr>
              <a:t>이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문서는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시험용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60">
                <a:latin typeface="Malgun Gothic"/>
                <a:cs typeface="Malgun Gothic"/>
              </a:rPr>
              <a:t>가상</a:t>
            </a:r>
            <a:r>
              <a:rPr dirty="0" sz="1100" spc="-80">
                <a:latin typeface="Malgun Gothic"/>
                <a:cs typeface="Malgun Gothic"/>
              </a:rPr>
              <a:t> </a:t>
            </a:r>
            <a:r>
              <a:rPr dirty="0" sz="1100" spc="-30">
                <a:latin typeface="Malgun Gothic"/>
                <a:cs typeface="Malgun Gothic"/>
              </a:rPr>
              <a:t>문서입니다.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가상 회사 분기 보고서(시험용)</dc:title>
  <dcterms:created xsi:type="dcterms:W3CDTF">2026-10-02T20:21:44Z</dcterms:created>
  <dcterms:modified xsi:type="dcterms:W3CDTF">2026-10-02T20:21:44Z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2026-10-02T00:00:00Z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2026-10-02T00:00:00Z</vt:filetime>
  </property>
  <property fmtid="{D5CDD505-2E9C-101B-9397-08002B2CF9AE}" pid="6" name="Producer">
    <vt:lpwstr>ReportLab PDF Library - (opensource)</vt:lpwstr>
  </property>
</Properties>
</file>